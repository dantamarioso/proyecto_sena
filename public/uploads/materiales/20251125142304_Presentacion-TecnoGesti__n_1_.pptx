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538" r:id="rId5"/>
    <p:sldId id="547" r:id="rId6"/>
    <p:sldId id="537" r:id="rId7"/>
    <p:sldId id="535" r:id="rId8"/>
    <p:sldId id="548" r:id="rId9"/>
    <p:sldId id="536" r:id="rId10"/>
    <p:sldId id="542" r:id="rId11"/>
    <p:sldId id="543" r:id="rId12"/>
    <p:sldId id="549" r:id="rId13"/>
    <p:sldId id="544" r:id="rId14"/>
    <p:sldId id="545" r:id="rId15"/>
    <p:sldId id="531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4D4D4C"/>
    <a:srgbClr val="00314D"/>
    <a:srgbClr val="39A900"/>
    <a:srgbClr val="343433"/>
    <a:srgbClr val="FF6C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7242"/>
  </p:normalViewPr>
  <p:slideViewPr>
    <p:cSldViewPr snapToGrid="0">
      <p:cViewPr varScale="1">
        <p:scale>
          <a:sx n="82" d="100"/>
          <a:sy n="82" d="100"/>
        </p:scale>
        <p:origin x="610" y="72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1037367" y="2233056"/>
            <a:ext cx="104390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Regional Valle </a:t>
            </a:r>
          </a:p>
          <a:p>
            <a:pPr lvl="0" algn="ctr">
              <a:defRPr/>
            </a:pPr>
            <a:endParaRPr lang="es-ES" sz="3600" b="1" dirty="0">
              <a:solidFill>
                <a:prstClr val="black">
                  <a:lumMod val="75000"/>
                  <a:lumOff val="25000"/>
                </a:prstClr>
              </a:solidFill>
              <a:latin typeface="Work Sans Bold Roman" pitchFamily="2" charset="77"/>
            </a:endParaRPr>
          </a:p>
          <a:p>
            <a:pPr lvl="0" algn="ctr">
              <a:defRPr/>
            </a:pPr>
            <a:r>
              <a:rPr lang="es-E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Centro Nacional de Asistencia Técnica a la Industria.</a:t>
            </a:r>
          </a:p>
          <a:p>
            <a:pPr lvl="0" algn="ctr">
              <a:defRPr/>
            </a:pPr>
            <a:endParaRPr lang="es-ES" sz="3600" b="1" dirty="0">
              <a:solidFill>
                <a:prstClr val="black">
                  <a:lumMod val="75000"/>
                  <a:lumOff val="25000"/>
                </a:prstClr>
              </a:solidFill>
              <a:latin typeface="Work Sans Bold Roman" pitchFamily="2" charset="77"/>
            </a:endParaRPr>
          </a:p>
          <a:p>
            <a:pPr lvl="0" algn="ctr">
              <a:defRPr/>
            </a:pPr>
            <a:r>
              <a:rPr lang="es-E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Tecnoparque Nodo Valle.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2434444" y="1941742"/>
            <a:ext cx="84028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Plataforma de gestión de materiales del </a:t>
            </a:r>
            <a:r>
              <a:rPr lang="es-ES" sz="54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Tecnoparque</a:t>
            </a: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 (</a:t>
            </a:r>
            <a:r>
              <a:rPr lang="es-ES" sz="54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TecnoGestión</a:t>
            </a: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)</a:t>
            </a:r>
          </a:p>
        </p:txBody>
      </p:sp>
      <p:sp>
        <p:nvSpPr>
          <p:cNvPr id="3" name="CuadroTexto 4">
            <a:extLst>
              <a:ext uri="{FF2B5EF4-FFF2-40B4-BE49-F238E27FC236}">
                <a16:creationId xmlns:a16="http://schemas.microsoft.com/office/drawing/2014/main" id="{7F9AC0C3-7D36-450F-B30A-0879B0051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818379"/>
            <a:ext cx="91440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s-CO" altLang="es-CO" sz="1000" b="1" dirty="0">
                <a:solidFill>
                  <a:schemeClr val="bg1">
                    <a:lumMod val="50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Nota: Piensa en un nombre comercial PARA TU IDEA DE BASE Tecnológica, que atraiga al publico OBJETO DE TU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28304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803975" y="593663"/>
            <a:ext cx="5158144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000" b="1" dirty="0">
                <a:solidFill>
                  <a:srgbClr val="00314D"/>
                </a:solidFill>
                <a:latin typeface="WORK SANS BOLD ROMAN" pitchFamily="2" charset="77"/>
              </a:rPr>
              <a:t>DESCRIPCIÓN</a:t>
            </a:r>
            <a:r>
              <a:rPr lang="es-ES" sz="3000" b="1" dirty="0">
                <a:solidFill>
                  <a:srgbClr val="38AA00"/>
                </a:solidFill>
                <a:latin typeface="WORK SANS BOLD ROMAN" pitchFamily="2" charset="77"/>
              </a:rPr>
              <a:t> DE LA IDEA</a:t>
            </a:r>
          </a:p>
          <a:p>
            <a:r>
              <a:rPr lang="es-ES" sz="3000" b="1" dirty="0">
                <a:solidFill>
                  <a:srgbClr val="4D4D4C"/>
                </a:solidFill>
                <a:latin typeface="WORK SANS BOLD ROMAN" pitchFamily="2" charset="77"/>
              </a:rPr>
              <a:t>/PROYECTO (LA SOLUCIÓN)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238539" y="1710600"/>
            <a:ext cx="69971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 Light Roman" pitchFamily="2" charset="77"/>
              </a:rPr>
              <a:t>La plataforma de gestión de materiales del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Work Sans Light Roman" pitchFamily="2" charset="77"/>
              </a:rPr>
              <a:t>Tecnoparque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 Light Roman" pitchFamily="2" charset="77"/>
              </a:rPr>
              <a:t> Nodo Valle tiene como propósito optimizar el control, la organización y el seguimiento de los recursos disponibles en las líneas de trabajo del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Work Sans Light Roman" pitchFamily="2" charset="77"/>
              </a:rPr>
              <a:t>Tecnoparque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 Light Roman" pitchFamily="2" charset="77"/>
              </a:rPr>
              <a:t>. Esta herramienta digital permite registrar entradas y salidas de materiales, gestionar inventarios en tiempo real y facilitar la trazabilidad de los recursos utilizados en proyectos de base tecnológico. Además, busca mejorar la eficiencia en los procesos internos, reducir errores en la administración de insumos y ofrecer información actualizada para la toma de decisiones. La plataforma se concibe como un sistema multiplataforma, modular, escalable, intuitivo, seguro y adaptable a las necesidades del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Work Sans Light Roman" pitchFamily="2" charset="77"/>
              </a:rPr>
              <a:t>Tecnoparque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 Light Roman" pitchFamily="2" charset="77"/>
              </a:rPr>
              <a:t>, contribuyendo al fortalecimiento de la gestión operativa y al aprovechamiento responsable de los recursos.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595405" y="1546414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12">
            <a:extLst>
              <a:ext uri="{FF2B5EF4-FFF2-40B4-BE49-F238E27FC236}">
                <a16:creationId xmlns:a16="http://schemas.microsoft.com/office/drawing/2014/main" id="{2E5BE906-42F4-40A1-9A3E-F92A5F5DB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11" y="541122"/>
            <a:ext cx="2809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CO" sz="3000" b="1" dirty="0">
                <a:solidFill>
                  <a:srgbClr val="00AB00"/>
                </a:solidFill>
                <a:cs typeface="Calibri" panose="020F0502020204030204" pitchFamily="34" charset="0"/>
              </a:rPr>
              <a:t>1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E0516C6-A25D-8EB1-F983-6159FD6284D1}"/>
              </a:ext>
            </a:extLst>
          </p:cNvPr>
          <p:cNvGrpSpPr/>
          <p:nvPr/>
        </p:nvGrpSpPr>
        <p:grpSpPr>
          <a:xfrm>
            <a:off x="7391511" y="1095120"/>
            <a:ext cx="4561949" cy="5458411"/>
            <a:chOff x="7126468" y="1145816"/>
            <a:chExt cx="4561949" cy="5458411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6393C4D4-5A1C-0307-3B43-87BC958C5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6468" y="4862437"/>
              <a:ext cx="4561948" cy="174179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7FB2DF5-2DBF-3309-039B-5B46D4DC1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69578" y="3291452"/>
              <a:ext cx="2818839" cy="1570984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2929C828-9E0F-7E06-B2A5-92EC98E7F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26469" y="1145816"/>
              <a:ext cx="4561948" cy="2156673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6CEF402A-1592-3287-717F-95F56CFEC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26469" y="3302490"/>
              <a:ext cx="1845253" cy="1570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696587" y="154325"/>
            <a:ext cx="79692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altLang="es-CO" sz="3000" b="1" dirty="0">
                <a:solidFill>
                  <a:srgbClr val="00324D"/>
                </a:solidFill>
                <a:latin typeface="Work Sans Bold Roman"/>
              </a:rPr>
              <a:t>EL EQUIPO… </a:t>
            </a:r>
            <a:r>
              <a:rPr lang="es-CO" altLang="es-CO" sz="3000" b="1" dirty="0">
                <a:solidFill>
                  <a:srgbClr val="38AA00"/>
                </a:solidFill>
                <a:latin typeface="Work Sans Bold Roman"/>
              </a:rPr>
              <a:t>¿QUIÉNES SOMOS?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88A4DF-720D-E501-986E-D50B788D2F61}"/>
              </a:ext>
            </a:extLst>
          </p:cNvPr>
          <p:cNvSpPr txBox="1"/>
          <p:nvPr/>
        </p:nvSpPr>
        <p:spPr>
          <a:xfrm>
            <a:off x="319082" y="5320770"/>
            <a:ext cx="1089699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CO" sz="1400" i="1" dirty="0">
                <a:solidFill>
                  <a:schemeClr val="bg1">
                    <a:lumMod val="50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Nota:</a:t>
            </a:r>
          </a:p>
          <a:p>
            <a:pPr>
              <a:defRPr/>
            </a:pPr>
            <a:r>
              <a:rPr lang="es-CO" sz="1400" i="1" dirty="0">
                <a:solidFill>
                  <a:schemeClr val="bg1">
                    <a:lumMod val="50000"/>
                  </a:schemeClr>
                </a:solidFill>
                <a:latin typeface="Work Sans" panose="00000500000000000000" pitchFamily="50" charset="0"/>
              </a:rPr>
              <a:t>• </a:t>
            </a:r>
            <a:r>
              <a:rPr lang="es-CO" sz="1400" dirty="0">
                <a:solidFill>
                  <a:schemeClr val="bg1">
                    <a:lumMod val="50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Describe a los </a:t>
            </a:r>
            <a:r>
              <a:rPr lang="es-CO" sz="1400" b="1" dirty="0">
                <a:solidFill>
                  <a:srgbClr val="00324D"/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principales protagonistas </a:t>
            </a:r>
            <a:r>
              <a:rPr lang="es-CO" sz="1400" dirty="0">
                <a:solidFill>
                  <a:schemeClr val="bg1">
                    <a:lumMod val="50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de tu equipo.</a:t>
            </a:r>
          </a:p>
          <a:p>
            <a:pPr>
              <a:defRPr/>
            </a:pPr>
            <a:r>
              <a:rPr lang="es-CO" sz="1400" dirty="0">
                <a:solidFill>
                  <a:schemeClr val="bg1">
                    <a:lumMod val="50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• Destaca las </a:t>
            </a:r>
            <a:r>
              <a:rPr lang="es-CO" sz="1400" b="1" dirty="0">
                <a:solidFill>
                  <a:srgbClr val="00324D"/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habilidades o experiencias claves</a:t>
            </a:r>
            <a:r>
              <a:rPr lang="es-CO" sz="1400" dirty="0">
                <a:solidFill>
                  <a:srgbClr val="00324D"/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 </a:t>
            </a:r>
            <a:r>
              <a:rPr lang="es-CO" sz="1400" dirty="0">
                <a:solidFill>
                  <a:schemeClr val="bg1">
                    <a:lumMod val="50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para el éxito del proyecto.</a:t>
            </a:r>
          </a:p>
          <a:p>
            <a:pPr>
              <a:defRPr/>
            </a:pPr>
            <a:r>
              <a:rPr lang="es-CO" sz="1400" dirty="0">
                <a:solidFill>
                  <a:schemeClr val="bg1">
                    <a:lumMod val="50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• Si tu equipo no está completo y </a:t>
            </a:r>
            <a:r>
              <a:rPr lang="es-CO" sz="1400" b="1" dirty="0">
                <a:solidFill>
                  <a:srgbClr val="00324D"/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explica cómo piensas completarlo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5" name="2 Tabla">
            <a:extLst>
              <a:ext uri="{FF2B5EF4-FFF2-40B4-BE49-F238E27FC236}">
                <a16:creationId xmlns:a16="http://schemas.microsoft.com/office/drawing/2014/main" id="{8853F857-88DB-456B-81A0-04D28397C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919467"/>
              </p:ext>
            </p:extLst>
          </p:nvPr>
        </p:nvGraphicFramePr>
        <p:xfrm>
          <a:off x="407565" y="1169988"/>
          <a:ext cx="11320244" cy="398923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660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0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3661">
                <a:tc>
                  <a:txBody>
                    <a:bodyPr/>
                    <a:lstStyle/>
                    <a:p>
                      <a:r>
                        <a:rPr lang="es-ES" sz="1400" b="1" dirty="0">
                          <a:solidFill>
                            <a:srgbClr val="00324D"/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NOMBRE: Mario Alejandro Ruiz Bedoya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Ocupación: Analista y Desarrollador de Software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Estudios: Tecnólogo en Análisis y Desarrollo de Software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Habilidades: SQL, HTML, CSS, JavaScript, Python 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Experiencia: desarrollo estudiantil de aplicativo de escritorio en Python para la gestión de base de datos</a:t>
                      </a:r>
                    </a:p>
                  </a:txBody>
                  <a:tcPr marL="91445" marR="9144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solidFill>
                            <a:srgbClr val="00324D"/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NOMBRE: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Ocupación: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Estudios: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Habilidades: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Experiencia:</a:t>
                      </a:r>
                    </a:p>
                  </a:txBody>
                  <a:tcPr marL="91445" marR="9144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5571">
                <a:tc>
                  <a:txBody>
                    <a:bodyPr/>
                    <a:lstStyle/>
                    <a:p>
                      <a:r>
                        <a:rPr lang="es-ES" sz="1400" b="1" dirty="0">
                          <a:solidFill>
                            <a:srgbClr val="00324D"/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NOMBRE: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Ocupación: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Estudios: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Habilidades: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Experiencia:</a:t>
                      </a:r>
                      <a:endParaRPr lang="es-CO" sz="1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Work Sans" panose="00000500000000000000" pitchFamily="50" charset="0"/>
                        <a:cs typeface="Calibri" panose="020F0502020204030204" pitchFamily="34" charset="0"/>
                      </a:endParaRPr>
                    </a:p>
                  </a:txBody>
                  <a:tcPr marL="91445" marR="9144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solidFill>
                            <a:srgbClr val="00324D"/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NOMBRE: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Ocupación: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Estudios: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Habilidades:</a:t>
                      </a:r>
                    </a:p>
                    <a:p>
                      <a:r>
                        <a:rPr lang="es-ES" sz="14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Work Sans" panose="00000500000000000000" pitchFamily="50" charset="0"/>
                          <a:cs typeface="Calibri" panose="020F0502020204030204" pitchFamily="34" charset="0"/>
                        </a:rPr>
                        <a:t>Experiencia:</a:t>
                      </a:r>
                    </a:p>
                  </a:txBody>
                  <a:tcPr marL="91445" marR="9144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uadroTexto 12">
            <a:extLst>
              <a:ext uri="{FF2B5EF4-FFF2-40B4-BE49-F238E27FC236}">
                <a16:creationId xmlns:a16="http://schemas.microsoft.com/office/drawing/2014/main" id="{33D0F250-1C74-4E5F-826F-B3FE442F1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2" y="154325"/>
            <a:ext cx="2809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CO" sz="3000" b="1" dirty="0">
                <a:solidFill>
                  <a:srgbClr val="00AB00"/>
                </a:solidFill>
                <a:cs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1077618" y="240212"/>
            <a:ext cx="7969241" cy="1338828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s-CO"/>
            </a:defPPr>
            <a:lvl1pPr lvl="0"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rgbClr val="00314D"/>
                </a:solidFill>
                <a:latin typeface="WORK SANS BOLD ROMAN" pitchFamily="2" charset="77"/>
                <a:ea typeface="+mj-ea"/>
                <a:cs typeface="+mj-cs"/>
              </a:defRPr>
            </a:lvl1pPr>
          </a:lstStyle>
          <a:p>
            <a:r>
              <a:rPr lang="es-ES" altLang="es-CO" dirty="0"/>
              <a:t>PROBLEMA O NECESIDAD RELACIONADO CON LA </a:t>
            </a:r>
          </a:p>
          <a:p>
            <a:r>
              <a:rPr lang="es-ES" altLang="es-CO" dirty="0">
                <a:solidFill>
                  <a:srgbClr val="38AA00"/>
                </a:solidFill>
              </a:rPr>
              <a:t>IDEA  DE BASE TECNOLÓGICA</a:t>
            </a:r>
          </a:p>
          <a:p>
            <a:endParaRPr lang="es-CO" altLang="es-CO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2584892" y="118010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17">
            <a:extLst>
              <a:ext uri="{FF2B5EF4-FFF2-40B4-BE49-F238E27FC236}">
                <a16:creationId xmlns:a16="http://schemas.microsoft.com/office/drawing/2014/main" id="{DA2EE9AD-7ECB-4630-A7F1-2CA0C09ED730}"/>
              </a:ext>
            </a:extLst>
          </p:cNvPr>
          <p:cNvSpPr/>
          <p:nvPr/>
        </p:nvSpPr>
        <p:spPr>
          <a:xfrm>
            <a:off x="956725" y="1892244"/>
            <a:ext cx="56527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Actualmente, la gestión de materiales en el </a:t>
            </a:r>
            <a:r>
              <a:rPr lang="es-ES" sz="2000" dirty="0" err="1"/>
              <a:t>Tecnoparque</a:t>
            </a:r>
            <a:r>
              <a:rPr lang="es-ES" sz="2000" dirty="0"/>
              <a:t> Nodo Valle se realiza de manera manual o con herramientas poco integradas, lo que dificulta el control preciso de inventarios, genera demoras en la actualización de información y aumenta el riesgo de pérdida o uso ineficiente de recursos. Esta situación limita la trazabilidad de los materiales y complica la planificación de proyectos. Por ello, se hace necesario implementar una plataforma digital que centralice y automatice la gestión de materiales, garantizando un control eficiente, transparente y en tiempo real.</a:t>
            </a:r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Work Sans Light Roman" pitchFamily="2" charset="77"/>
            </a:endParaRPr>
          </a:p>
        </p:txBody>
      </p:sp>
      <p:sp>
        <p:nvSpPr>
          <p:cNvPr id="11" name="CuadroTexto 12">
            <a:extLst>
              <a:ext uri="{FF2B5EF4-FFF2-40B4-BE49-F238E27FC236}">
                <a16:creationId xmlns:a16="http://schemas.microsoft.com/office/drawing/2014/main" id="{95491FC2-6C39-49B2-964E-7590DCBD8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38" y="240212"/>
            <a:ext cx="2809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CO" sz="3000" b="1" dirty="0">
                <a:solidFill>
                  <a:srgbClr val="00AB00"/>
                </a:solidFill>
                <a:cs typeface="Calibri" panose="020F0502020204030204" pitchFamily="34" charset="0"/>
              </a:rPr>
              <a:t>3</a:t>
            </a:r>
          </a:p>
        </p:txBody>
      </p:sp>
      <p:pic>
        <p:nvPicPr>
          <p:cNvPr id="1026" name="Picture 2" descr="UAPA. Administración de Contenidos Digitales y de Bases de Datos">
            <a:extLst>
              <a:ext uri="{FF2B5EF4-FFF2-40B4-BE49-F238E27FC236}">
                <a16:creationId xmlns:a16="http://schemas.microsoft.com/office/drawing/2014/main" id="{A87250F5-149A-427C-94FB-A80827B09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679" y="1579040"/>
            <a:ext cx="4826000" cy="402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59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909241" y="194803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ES" sz="3000" b="1" dirty="0">
                <a:solidFill>
                  <a:srgbClr val="00314D"/>
                </a:solidFill>
                <a:latin typeface="WORK SANS BOLD ROMAN" pitchFamily="2" charset="77"/>
              </a:rPr>
              <a:t>POR QUE SE JUSTIFICA LA IDEA Y </a:t>
            </a:r>
          </a:p>
          <a:p>
            <a:pPr lvl="0">
              <a:defRPr/>
            </a:pPr>
            <a:r>
              <a:rPr lang="es-ES" sz="3000" b="1" dirty="0">
                <a:solidFill>
                  <a:srgbClr val="4D4D4C"/>
                </a:solidFill>
                <a:latin typeface="WORK SANS BOLD ROMAN" pitchFamily="2" charset="77"/>
              </a:rPr>
              <a:t> </a:t>
            </a:r>
            <a:r>
              <a:rPr lang="es-ES" sz="3000" b="1" dirty="0">
                <a:solidFill>
                  <a:srgbClr val="38AA00"/>
                </a:solidFill>
                <a:latin typeface="WORK SANS BOLD ROMAN" pitchFamily="2" charset="77"/>
              </a:rPr>
              <a:t>QUE LA HACE INNOVADORA</a:t>
            </a:r>
            <a:r>
              <a:rPr lang="es-ES" sz="3000" b="1" dirty="0">
                <a:solidFill>
                  <a:srgbClr val="4D4D4C"/>
                </a:solidFill>
                <a:latin typeface="WORK SANS BOLD ROMAN" pitchFamily="2" charset="77"/>
              </a:rPr>
              <a:t>.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528584" y="1763091"/>
            <a:ext cx="609087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La idea se justifica porque responde a la necesidad de optimizar la gestión de materiales en el </a:t>
            </a:r>
            <a:r>
              <a:rPr lang="es-ES" sz="2000" dirty="0" err="1"/>
              <a:t>Tecnoparque</a:t>
            </a:r>
            <a:r>
              <a:rPr lang="es-ES" sz="2000" dirty="0"/>
              <a:t> Nodo Valle, reemplazando los procesos manuales por una herramienta digital integrada que facilite el control, registro y trazabilidad de los recursos. Su carácter innovador radica en la automatización de tareas, el acceso a información en tiempo real y la posibilidad de personalizar la gestión según las líneas de trabajo del </a:t>
            </a:r>
            <a:r>
              <a:rPr lang="es-ES" sz="2000" dirty="0" err="1"/>
              <a:t>Tecnoparque</a:t>
            </a:r>
            <a:r>
              <a:rPr lang="es-ES" sz="2000" dirty="0"/>
              <a:t>, promoviendo una administración más eficiente, transparente y alineada con las dinámicas tecnológicas del SENA.</a:t>
            </a:r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Work Sans Light Roman" pitchFamily="2" charset="77"/>
            </a:endParaRPr>
          </a:p>
        </p:txBody>
      </p:sp>
      <p:sp>
        <p:nvSpPr>
          <p:cNvPr id="5" name="CuadroTexto 12">
            <a:extLst>
              <a:ext uri="{FF2B5EF4-FFF2-40B4-BE49-F238E27FC236}">
                <a16:creationId xmlns:a16="http://schemas.microsoft.com/office/drawing/2014/main" id="{70BA58BF-F2A9-4DE9-9BA2-09D9683B4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11" y="143553"/>
            <a:ext cx="2809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CO" sz="3000" b="1" dirty="0">
                <a:solidFill>
                  <a:srgbClr val="00AB00"/>
                </a:solidFill>
                <a:cs typeface="Calibri" panose="020F0502020204030204" pitchFamily="34" charset="0"/>
              </a:rPr>
              <a:t>4</a:t>
            </a:r>
          </a:p>
        </p:txBody>
      </p:sp>
      <p:pic>
        <p:nvPicPr>
          <p:cNvPr id="1026" name="Picture 2" descr="Avance tecnológico: Más de 511,995 ilustraciones y dibujos de stock con  licencia libres de regalías | Shutterstock">
            <a:extLst>
              <a:ext uri="{FF2B5EF4-FFF2-40B4-BE49-F238E27FC236}">
                <a16:creationId xmlns:a16="http://schemas.microsoft.com/office/drawing/2014/main" id="{09C3CC3E-7127-A293-F16D-6A51D3FA9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728" y="1791280"/>
            <a:ext cx="4476684" cy="327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1146848" y="443338"/>
            <a:ext cx="79692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altLang="es-CO" sz="3000" b="1" dirty="0">
                <a:solidFill>
                  <a:srgbClr val="00324D"/>
                </a:solidFill>
                <a:latin typeface="Work Sans Bold Roman"/>
              </a:rPr>
              <a:t>OBJETIVOS</a:t>
            </a:r>
            <a:endParaRPr lang="es-CO" altLang="es-CO" sz="3000" b="1" dirty="0">
              <a:solidFill>
                <a:schemeClr val="tx1">
                  <a:lumMod val="65000"/>
                  <a:lumOff val="35000"/>
                </a:schemeClr>
              </a:solidFill>
              <a:latin typeface="Work Sans Bold Roman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1146848" y="880588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12">
            <a:extLst>
              <a:ext uri="{FF2B5EF4-FFF2-40B4-BE49-F238E27FC236}">
                <a16:creationId xmlns:a16="http://schemas.microsoft.com/office/drawing/2014/main" id="{7E5DADA4-6BA5-4CB7-9309-2A358FA49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47" y="355594"/>
            <a:ext cx="2809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CO" sz="3000" b="1" dirty="0">
                <a:solidFill>
                  <a:srgbClr val="00AB00"/>
                </a:solidFill>
                <a:cs typeface="Calibri" panose="020F0502020204030204" pitchFamily="34" charset="0"/>
              </a:rPr>
              <a:t>5</a:t>
            </a:r>
          </a:p>
        </p:txBody>
      </p:sp>
      <p:graphicFrame>
        <p:nvGraphicFramePr>
          <p:cNvPr id="9" name="Google Shape;138;p7">
            <a:extLst>
              <a:ext uri="{FF2B5EF4-FFF2-40B4-BE49-F238E27FC236}">
                <a16:creationId xmlns:a16="http://schemas.microsoft.com/office/drawing/2014/main" id="{A65B9B5B-E91E-411B-B4A8-B546E06A5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429683"/>
              </p:ext>
            </p:extLst>
          </p:nvPr>
        </p:nvGraphicFramePr>
        <p:xfrm>
          <a:off x="735317" y="1605039"/>
          <a:ext cx="10721365" cy="437237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7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8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/>
                        <a:t>Objetivos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/>
                        <a:t>Alcance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/>
                        <a:t>Resultados</a:t>
                      </a:r>
                      <a:endParaRPr sz="18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784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Desarrollar un prototipo de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una plataforma </a:t>
                      </a:r>
                      <a:r>
                        <a:rPr lang="es-ES" dirty="0"/>
                        <a:t>de gestión de materiales para el </a:t>
                      </a:r>
                      <a:r>
                        <a:rPr lang="es-ES" dirty="0" err="1"/>
                        <a:t>Tecnoparque</a:t>
                      </a:r>
                      <a:r>
                        <a:rPr lang="es-ES" dirty="0"/>
                        <a:t>.</a:t>
                      </a: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Desarrollar la interfaz de usuarios, programar funcionalidades, diseñar almacenamiento de datos,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desarrollar e incorporar estas funciones de manera modular, escalable y multiplataforma.</a:t>
                      </a:r>
                      <a:endParaRPr sz="1800" kern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  <a:tabLst/>
                        <a:defRPr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Prototipo de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plataforma para </a:t>
                      </a:r>
                      <a:r>
                        <a:rPr lang="es-ES" dirty="0"/>
                        <a:t>el </a:t>
                      </a:r>
                      <a:r>
                        <a:rPr lang="es-ES" dirty="0" err="1"/>
                        <a:t>Tecnoparque</a:t>
                      </a:r>
                      <a:r>
                        <a:rPr lang="es-ES" dirty="0"/>
                        <a:t>.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Documentar pruebas del prototipo</a:t>
                      </a: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Documentar pruebas del prototipo.</a:t>
                      </a: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Informe de pruebas</a:t>
                      </a: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modelo de negocio del prototipo</a:t>
                      </a: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modelo de negocio canvas del prototipo.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de negocio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documento de leyes y normas implicadas en el desarrollo del prototipo.</a:t>
                      </a: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documento de Normativa.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Documento de normativa</a:t>
                      </a: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09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1146848" y="342340"/>
            <a:ext cx="79692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altLang="es-CO" sz="3000" b="1" dirty="0">
                <a:solidFill>
                  <a:srgbClr val="00324D"/>
                </a:solidFill>
                <a:latin typeface="Work Sans Bold Roman"/>
              </a:rPr>
              <a:t>ANTECEDENTES Y MERCADO </a:t>
            </a:r>
            <a:r>
              <a:rPr lang="es-CO" altLang="es-CO" sz="3000" b="1" dirty="0">
                <a:solidFill>
                  <a:srgbClr val="39A900"/>
                </a:solidFill>
                <a:latin typeface="Work Sans Bold Roman"/>
              </a:rPr>
              <a:t>OBJETIVO</a:t>
            </a:r>
          </a:p>
          <a:p>
            <a:endParaRPr lang="es-CO" altLang="es-CO" sz="3000" b="1" dirty="0">
              <a:solidFill>
                <a:schemeClr val="tx1">
                  <a:lumMod val="65000"/>
                  <a:lumOff val="35000"/>
                </a:schemeClr>
              </a:solidFill>
              <a:latin typeface="Work Sans Bold Roman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1236382" y="896338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57E6891-B790-4B95-A3E5-F6893D9AF8F7}"/>
              </a:ext>
            </a:extLst>
          </p:cNvPr>
          <p:cNvSpPr txBox="1"/>
          <p:nvPr/>
        </p:nvSpPr>
        <p:spPr>
          <a:xfrm>
            <a:off x="337931" y="1095927"/>
            <a:ext cx="114299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Estado del arte</a:t>
            </a:r>
            <a:br>
              <a:rPr lang="es-CO" dirty="0"/>
            </a:br>
            <a:r>
              <a:rPr lang="es-CO" dirty="0"/>
              <a:t>El manejo de inventarios y materiales para organizaciones hoy se apoya tanto en </a:t>
            </a:r>
            <a:r>
              <a:rPr lang="es-CO" dirty="0" err="1"/>
              <a:t>ERPs</a:t>
            </a:r>
            <a:r>
              <a:rPr lang="es-CO" dirty="0"/>
              <a:t> y soluciones de gestión empresarial (modulares y adaptables) como en plataformas especializadas para laboratorios que incluyen control de equipos, reservas y trazabilidad. </a:t>
            </a:r>
          </a:p>
          <a:p>
            <a:r>
              <a:rPr lang="es-CO" b="1" dirty="0"/>
              <a:t>Competidores: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 err="1"/>
              <a:t>ERPs</a:t>
            </a:r>
            <a:r>
              <a:rPr lang="es-CO" b="1" dirty="0"/>
              <a:t> y suites integradas como</a:t>
            </a:r>
            <a:r>
              <a:rPr lang="es-CO" dirty="0"/>
              <a:t> (</a:t>
            </a:r>
            <a:r>
              <a:rPr lang="es-CO" dirty="0" err="1"/>
              <a:t>Odoo</a:t>
            </a:r>
            <a:r>
              <a:rPr lang="es-CO" dirty="0"/>
              <a:t>, Microsoft Dynamics, </a:t>
            </a:r>
            <a:r>
              <a:rPr lang="es-CO" dirty="0" err="1"/>
              <a:t>NetSuite</a:t>
            </a:r>
            <a:r>
              <a:rPr lang="es-CO" dirty="0"/>
              <a:t>) muy usados por su modularidad y funcionalidades de inventario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b="1" dirty="0"/>
              <a:t>Software de inventario/WMS:</a:t>
            </a:r>
            <a:r>
              <a:rPr lang="es-CO" dirty="0"/>
              <a:t> Plataformas comerciales y nacionales que ofrecen control de stock, códigos de barras y gestión de almacén. </a:t>
            </a:r>
          </a:p>
          <a:p>
            <a:r>
              <a:rPr lang="es-CO" b="1" dirty="0"/>
              <a:t>Cómo se diferencia la propuesta actual:</a:t>
            </a:r>
            <a:endParaRPr lang="es-C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b="1" dirty="0"/>
              <a:t>Enfoque en la Red </a:t>
            </a:r>
            <a:r>
              <a:rPr lang="es-CO" b="1" dirty="0" err="1"/>
              <a:t>Tecnoparque</a:t>
            </a:r>
            <a:r>
              <a:rPr lang="es-CO" b="1" dirty="0"/>
              <a:t> / SENA:</a:t>
            </a:r>
            <a:r>
              <a:rPr lang="es-CO" dirty="0"/>
              <a:t> diseño pensado para nodos múltiples, flujos y reglas institucionales del </a:t>
            </a:r>
            <a:r>
              <a:rPr lang="es-CO" dirty="0" err="1"/>
              <a:t>Tecnoparque</a:t>
            </a:r>
            <a:r>
              <a:rPr lang="es-CO" dirty="0"/>
              <a:t> (p. ej. gestión por líneas tecnológicas y nodos descentralizados).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b="1" dirty="0"/>
              <a:t>Interfaz y procesos adaptados a proyectos de base tecnológica</a:t>
            </a:r>
            <a:endParaRPr lang="es-C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b="1" dirty="0"/>
              <a:t>Bajo costo y escalabilidad:</a:t>
            </a:r>
            <a:r>
              <a:rPr lang="es-CO" dirty="0"/>
              <a:t> posibilidad de iniciar con componentes (UX) open-</a:t>
            </a:r>
            <a:r>
              <a:rPr lang="es-CO" dirty="0" err="1"/>
              <a:t>source</a:t>
            </a:r>
            <a:r>
              <a:rPr lang="es-CO" dirty="0"/>
              <a:t> (modulares) y escalar e integración con otros sistemas del SENA.</a:t>
            </a:r>
          </a:p>
          <a:p>
            <a:endParaRPr lang="es-CO" b="1" dirty="0"/>
          </a:p>
          <a:p>
            <a:r>
              <a:rPr lang="es-CO" b="1" dirty="0"/>
              <a:t>Mercado objetivo</a:t>
            </a:r>
            <a:br>
              <a:rPr lang="es-CO" dirty="0"/>
            </a:br>
            <a:r>
              <a:rPr lang="es-CO" dirty="0"/>
              <a:t>La plataforma está dirigida a la </a:t>
            </a:r>
            <a:r>
              <a:rPr lang="es-CO" b="1" dirty="0"/>
              <a:t>Red de </a:t>
            </a:r>
            <a:r>
              <a:rPr lang="es-CO" b="1" dirty="0" err="1"/>
              <a:t>Tecnoparques</a:t>
            </a:r>
            <a:r>
              <a:rPr lang="es-CO" b="1" dirty="0"/>
              <a:t> de Colombia</a:t>
            </a:r>
            <a:r>
              <a:rPr lang="es-CO" dirty="0"/>
              <a:t> (SENA), compuesta por nodos regionales distribuidos en varias ciudades y departamentos que ofrecen laboratorios de innovación tecnológica. </a:t>
            </a:r>
          </a:p>
        </p:txBody>
      </p:sp>
      <p:sp>
        <p:nvSpPr>
          <p:cNvPr id="7" name="CuadroTexto 12">
            <a:extLst>
              <a:ext uri="{FF2B5EF4-FFF2-40B4-BE49-F238E27FC236}">
                <a16:creationId xmlns:a16="http://schemas.microsoft.com/office/drawing/2014/main" id="{BE6B2FAF-A6C4-4243-9BA1-04179DCE4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601" y="354956"/>
            <a:ext cx="2809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CO" sz="3000" b="1" dirty="0">
                <a:solidFill>
                  <a:srgbClr val="00AB00"/>
                </a:solidFill>
                <a:cs typeface="Calibri" panose="020F050202020403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04366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1146848" y="541122"/>
            <a:ext cx="79692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es-CO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 Bold Roman"/>
              </a:rPr>
              <a:t>COMPONENTES DE LA IDEA / PROYECTO 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1146848" y="1066116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12">
            <a:extLst>
              <a:ext uri="{FF2B5EF4-FFF2-40B4-BE49-F238E27FC236}">
                <a16:creationId xmlns:a16="http://schemas.microsoft.com/office/drawing/2014/main" id="{7E5DADA4-6BA5-4CB7-9309-2A358FA49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47" y="541122"/>
            <a:ext cx="2809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CO" sz="3000" b="1" dirty="0">
                <a:solidFill>
                  <a:srgbClr val="00AB00"/>
                </a:solidFill>
                <a:cs typeface="Calibri" panose="020F0502020204030204" pitchFamily="34" charset="0"/>
              </a:rPr>
              <a:t>7</a:t>
            </a:r>
          </a:p>
        </p:txBody>
      </p:sp>
      <p:sp>
        <p:nvSpPr>
          <p:cNvPr id="8" name="Rectángulo 17">
            <a:extLst>
              <a:ext uri="{FF2B5EF4-FFF2-40B4-BE49-F238E27FC236}">
                <a16:creationId xmlns:a16="http://schemas.microsoft.com/office/drawing/2014/main" id="{E76BD8E1-11E3-A95C-A456-59B6A9C8ED6F}"/>
              </a:ext>
            </a:extLst>
          </p:cNvPr>
          <p:cNvSpPr/>
          <p:nvPr/>
        </p:nvSpPr>
        <p:spPr>
          <a:xfrm>
            <a:off x="2468326" y="1636680"/>
            <a:ext cx="6977677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s-E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Cuéntanos de forma clara cómo vas a desarrollar tu proyecto… </a:t>
            </a:r>
            <a:r>
              <a:rPr lang="es-ES" sz="1300" b="1" dirty="0">
                <a:solidFill>
                  <a:srgbClr val="00324D"/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ENFATIZA LOS ASPECTOS TÉCNICOS </a:t>
            </a:r>
            <a:r>
              <a:rPr lang="es-E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de acuerdo a los siguientes componentes que te ofrece Tecnoparque, según la línea a la que apliques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4001834-9142-3D2E-C7F3-7F0FCCFAA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165931" y="1636202"/>
            <a:ext cx="292388" cy="292388"/>
          </a:xfrm>
          <a:prstGeom prst="rect">
            <a:avLst/>
          </a:prstGeom>
        </p:spPr>
      </p:pic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89DD9E7C-2382-A1AE-9F12-8F5198838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905567"/>
              </p:ext>
            </p:extLst>
          </p:nvPr>
        </p:nvGraphicFramePr>
        <p:xfrm>
          <a:off x="1383880" y="2643700"/>
          <a:ext cx="8998368" cy="2900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1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1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5526">
                  <a:extLst>
                    <a:ext uri="{9D8B030D-6E8A-4147-A177-3AD203B41FA5}">
                      <a16:colId xmlns:a16="http://schemas.microsoft.com/office/drawing/2014/main" val="3809221642"/>
                    </a:ext>
                  </a:extLst>
                </a:gridCol>
              </a:tblGrid>
              <a:tr h="304772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  <a:latin typeface="Work Sans" panose="00000500000000000000" pitchFamily="50" charset="0"/>
                        </a:rPr>
                        <a:t>LÍNEA</a:t>
                      </a:r>
                      <a:r>
                        <a:rPr lang="es-ES" sz="1400" baseline="0" dirty="0">
                          <a:solidFill>
                            <a:schemeClr val="bg1"/>
                          </a:solidFill>
                          <a:latin typeface="Work Sans" panose="00000500000000000000" pitchFamily="50" charset="0"/>
                        </a:rPr>
                        <a:t> DE DESARROLLO</a:t>
                      </a:r>
                    </a:p>
                    <a:p>
                      <a:pPr algn="ctr"/>
                      <a:r>
                        <a:rPr lang="es-ES" sz="1400" baseline="0" dirty="0">
                          <a:solidFill>
                            <a:schemeClr val="bg1"/>
                          </a:solidFill>
                          <a:latin typeface="Work Sans" panose="00000500000000000000" pitchFamily="50" charset="0"/>
                        </a:rPr>
                        <a:t>TECNOPARQUE</a:t>
                      </a:r>
                      <a:endParaRPr lang="es-CO" sz="1400" dirty="0">
                        <a:solidFill>
                          <a:schemeClr val="bg1"/>
                        </a:solidFill>
                        <a:latin typeface="Work Sans" panose="00000500000000000000" pitchFamily="50" charset="0"/>
                        <a:cs typeface="Calibri" panose="020F0502020204030204" pitchFamily="34" charset="0"/>
                      </a:endParaRPr>
                    </a:p>
                  </a:txBody>
                  <a:tcPr marL="91438" marR="91438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  <a:latin typeface="Work Sans" panose="00000500000000000000" pitchFamily="50" charset="0"/>
                        </a:rPr>
                        <a:t>DESCRIPCIÓN</a:t>
                      </a:r>
                      <a:endParaRPr lang="es-CO" sz="1400" dirty="0">
                        <a:solidFill>
                          <a:schemeClr val="bg1"/>
                        </a:solidFill>
                        <a:latin typeface="Work Sans" panose="00000500000000000000" pitchFamily="50" charset="0"/>
                        <a:cs typeface="Calibri" panose="020F0502020204030204" pitchFamily="34" charset="0"/>
                      </a:endParaRPr>
                    </a:p>
                  </a:txBody>
                  <a:tcPr marL="91438" marR="91438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bg1"/>
                          </a:solidFill>
                          <a:latin typeface="Work Sans" panose="00000500000000000000" pitchFamily="50" charset="0"/>
                        </a:rPr>
                        <a:t>Contrapartida del empresario/emprendedor</a:t>
                      </a:r>
                      <a:endParaRPr lang="es-CO" sz="1400" dirty="0">
                        <a:solidFill>
                          <a:schemeClr val="bg1"/>
                        </a:solidFill>
                        <a:latin typeface="Work Sans" panose="00000500000000000000" pitchFamily="50" charset="0"/>
                        <a:cs typeface="Calibri" panose="020F0502020204030204" pitchFamily="34" charset="0"/>
                      </a:endParaRPr>
                    </a:p>
                  </a:txBody>
                  <a:tcPr marL="91438" marR="91438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0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Work Sans" panose="00000500000000000000" pitchFamily="50" charset="0"/>
                        </a:rPr>
                        <a:t>TECNOLOGÍAS</a:t>
                      </a:r>
                      <a:r>
                        <a:rPr lang="es-ES" sz="1400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Work Sans" panose="00000500000000000000" pitchFamily="50" charset="0"/>
                        </a:rPr>
                        <a:t> VIRTUALES</a:t>
                      </a:r>
                      <a:endParaRPr lang="es-ES" sz="1400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Work Sans" panose="00000500000000000000" pitchFamily="50" charset="0"/>
                        <a:cs typeface="Calibri" panose="020F0502020204030204" pitchFamily="34" charset="0"/>
                      </a:endParaRPr>
                    </a:p>
                  </a:txBody>
                  <a:tcPr marL="91438" marR="91438" marT="45715" marB="4571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400"/>
                        <a:buFont typeface="Work Sans"/>
                        <a:buNone/>
                      </a:pPr>
                      <a:r>
                        <a:rPr lang="es-ES" sz="1400" dirty="0">
                          <a:solidFill>
                            <a:srgbClr val="59595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 solicita al T</a:t>
                      </a:r>
                      <a:r>
                        <a:rPr lang="es-ES" sz="1400">
                          <a:solidFill>
                            <a:srgbClr val="59595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ecnoparque</a:t>
                      </a:r>
                      <a:r>
                        <a:rPr lang="es-ES" sz="1400" dirty="0">
                          <a:solidFill>
                            <a:srgbClr val="59595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asesoría técnica especializada y uso de la infraestructura para el desarrollo del prototipo</a:t>
                      </a:r>
                      <a:r>
                        <a:rPr lang="es-ES" dirty="0">
                          <a:solidFill>
                            <a:srgbClr val="59595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sz="1400" dirty="0">
                        <a:solidFill>
                          <a:srgbClr val="595959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50" marR="91450" marT="45725" marB="457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59595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Toda la información necesaria y la disponibilidad de tiempo y personal con competencias para las tareas de </a:t>
                      </a:r>
                      <a:r>
                        <a:rPr lang="es-ES" sz="1400" kern="1200" dirty="0">
                          <a:solidFill>
                            <a:srgbClr val="59595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desarrollo, diseño y modelo de base de datos de la plataforma.</a:t>
                      </a:r>
                      <a:endParaRPr sz="1400" kern="1200" dirty="0">
                        <a:solidFill>
                          <a:srgbClr val="595959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50" marR="91450" marT="45725" marB="457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2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1057314" y="541122"/>
            <a:ext cx="79692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altLang="es-CO" sz="3000" b="1" dirty="0">
                <a:solidFill>
                  <a:srgbClr val="00324D"/>
                </a:solidFill>
              </a:rPr>
              <a:t>IMPACTO</a:t>
            </a:r>
            <a:endParaRPr lang="es-CO" altLang="es-CO" sz="3000" b="1" dirty="0">
              <a:solidFill>
                <a:srgbClr val="39A900"/>
              </a:solidFill>
            </a:endParaRPr>
          </a:p>
          <a:p>
            <a:endParaRPr lang="es-CO" altLang="es-CO" sz="3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1180404" y="1002842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57E6891-B790-4B95-A3E5-F6893D9AF8F7}"/>
              </a:ext>
            </a:extLst>
          </p:cNvPr>
          <p:cNvSpPr txBox="1"/>
          <p:nvPr/>
        </p:nvSpPr>
        <p:spPr>
          <a:xfrm>
            <a:off x="1239127" y="1234275"/>
            <a:ext cx="8491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¿Cuáles de los siguientes ítems se incluyen dentro del desarrollo de tu idea/proyecto? </a:t>
            </a:r>
            <a:r>
              <a:rPr lang="es-ES" sz="1600" b="1" dirty="0">
                <a:solidFill>
                  <a:srgbClr val="00314D"/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SUBRAYALOS Y EXPLÍCALOS DURANTE LA PRESENTACIÓN MUY RAPIDAMENTE!!!</a:t>
            </a:r>
          </a:p>
        </p:txBody>
      </p:sp>
      <p:sp>
        <p:nvSpPr>
          <p:cNvPr id="7" name="Rectángulo 17">
            <a:extLst>
              <a:ext uri="{FF2B5EF4-FFF2-40B4-BE49-F238E27FC236}">
                <a16:creationId xmlns:a16="http://schemas.microsoft.com/office/drawing/2014/main" id="{58D62B52-B9F8-4103-B39D-3A409958C364}"/>
              </a:ext>
            </a:extLst>
          </p:cNvPr>
          <p:cNvSpPr/>
          <p:nvPr/>
        </p:nvSpPr>
        <p:spPr>
          <a:xfrm>
            <a:off x="1057314" y="2249938"/>
            <a:ext cx="710934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s-ES" sz="1400" b="1" dirty="0">
              <a:solidFill>
                <a:schemeClr val="tx1">
                  <a:lumMod val="65000"/>
                  <a:lumOff val="35000"/>
                </a:schemeClr>
              </a:solidFill>
              <a:latin typeface="Work Sans" panose="00000500000000000000" pitchFamily="50" charset="0"/>
              <a:cs typeface="Calibri" panose="020F0502020204030204" pitchFamily="34" charset="0"/>
            </a:endParaRP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Reemplaza bienes o servicios obsoletos.</a:t>
            </a: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Introduce bienes o servicios y/o Proceso ambientalmente limpios - Disminución impacto ambiental - Ambientalmente Sostenibles.</a:t>
            </a: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Genera Investigación Tecnológica Aplicada.</a:t>
            </a: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Existe demanda actual del producto.</a:t>
            </a: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Amplia el mercado actual.</a:t>
            </a: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Abre nuevos mercados.</a:t>
            </a: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Reduce costos  tiempos.</a:t>
            </a: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Reduce el consumo de Materiales/Recursos.</a:t>
            </a: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Identifica la normatividad vigente relacionado con el proyecto.</a:t>
            </a:r>
          </a:p>
          <a:p>
            <a:pPr marL="177800" indent="-177800" algn="just" defTabSz="91440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anose="00000500000000000000" pitchFamily="50" charset="0"/>
                <a:cs typeface="Calibri" panose="020F0502020204030204" pitchFamily="34" charset="0"/>
              </a:rPr>
              <a:t>El proyecto es potencialmente patentable - derechos de autor.</a:t>
            </a:r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6A760EDA-D5E3-4F36-8BFA-88B51F53A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327" y="545349"/>
            <a:ext cx="2809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CO" sz="3000" b="1" dirty="0">
                <a:solidFill>
                  <a:srgbClr val="00AB00"/>
                </a:solidFill>
                <a:cs typeface="Calibri" panose="020F050202020403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49671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1057314" y="478231"/>
            <a:ext cx="79692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altLang="es-CO" sz="3000" b="1" dirty="0">
                <a:solidFill>
                  <a:srgbClr val="00324D"/>
                </a:solidFill>
              </a:rPr>
              <a:t>POTENCIAL EMPRESARIAL</a:t>
            </a:r>
          </a:p>
          <a:p>
            <a:endParaRPr lang="es-CO" altLang="es-CO" sz="3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1146848" y="1032560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17">
            <a:extLst>
              <a:ext uri="{FF2B5EF4-FFF2-40B4-BE49-F238E27FC236}">
                <a16:creationId xmlns:a16="http://schemas.microsoft.com/office/drawing/2014/main" id="{DA2EE9AD-7ECB-4630-A7F1-2CA0C09ED730}"/>
              </a:ext>
            </a:extLst>
          </p:cNvPr>
          <p:cNvSpPr/>
          <p:nvPr/>
        </p:nvSpPr>
        <p:spPr>
          <a:xfrm>
            <a:off x="1146848" y="1774838"/>
            <a:ext cx="425680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s-ES" sz="2000" dirty="0"/>
              <a:t>Es una plataforma desarrollada para el </a:t>
            </a:r>
            <a:r>
              <a:rPr lang="es-ES" sz="2000" b="1" dirty="0" err="1"/>
              <a:t>Tecnoparque</a:t>
            </a:r>
            <a:r>
              <a:rPr lang="es-ES" sz="2000" b="1" dirty="0"/>
              <a:t> Nodo Valle</a:t>
            </a:r>
            <a:r>
              <a:rPr lang="es-ES" sz="2000" dirty="0"/>
              <a:t>, con un diseño </a:t>
            </a:r>
            <a:r>
              <a:rPr lang="es-ES" sz="2000" b="1" dirty="0"/>
              <a:t>modular y escalable</a:t>
            </a:r>
            <a:r>
              <a:rPr lang="es-ES" sz="2000" dirty="0"/>
              <a:t>, que permitirá su futura implementación en otros nodos y centros de formación del </a:t>
            </a:r>
            <a:r>
              <a:rPr lang="es-ES" sz="2000" b="1" dirty="0"/>
              <a:t>SENA</a:t>
            </a:r>
            <a:r>
              <a:rPr lang="es-ES" sz="2000" dirty="0"/>
              <a:t>. Su desarrollo se realizará con </a:t>
            </a:r>
            <a:r>
              <a:rPr lang="es-ES" sz="2000" b="1" dirty="0"/>
              <a:t>recursos propios</a:t>
            </a:r>
            <a:r>
              <a:rPr lang="es-ES" sz="2000" dirty="0"/>
              <a:t>, garantizando autonomía, flexibilidad y la posibilidad de adaptar sus módulos según las necesidades de cada entorno tecnológico.</a:t>
            </a:r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Work Sans" panose="00000500000000000000" pitchFamily="50" charset="0"/>
              <a:cs typeface="Calibri" panose="020F050202020403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83E8A8C-E9BC-48CF-A3D7-51B86D4DA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64588" y="1313505"/>
            <a:ext cx="292388" cy="292388"/>
          </a:xfrm>
          <a:prstGeom prst="rect">
            <a:avLst/>
          </a:prstGeom>
        </p:spPr>
      </p:pic>
      <p:sp>
        <p:nvSpPr>
          <p:cNvPr id="11" name="CuadroTexto 12">
            <a:extLst>
              <a:ext uri="{FF2B5EF4-FFF2-40B4-BE49-F238E27FC236}">
                <a16:creationId xmlns:a16="http://schemas.microsoft.com/office/drawing/2014/main" id="{49EF50A8-55A2-48B7-B409-2B04FADD0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67" y="478562"/>
            <a:ext cx="2809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CO" sz="3000" b="1" dirty="0">
                <a:solidFill>
                  <a:srgbClr val="00AB00"/>
                </a:solidFill>
                <a:cs typeface="Calibri" panose="020F0502020204030204" pitchFamily="34" charset="0"/>
              </a:rPr>
              <a:t>9</a:t>
            </a:r>
          </a:p>
        </p:txBody>
      </p:sp>
      <p:pic>
        <p:nvPicPr>
          <p:cNvPr id="2050" name="Picture 2" descr="Sistema de Inventario PHP Laravel – Control de Stock Fácil">
            <a:extLst>
              <a:ext uri="{FF2B5EF4-FFF2-40B4-BE49-F238E27FC236}">
                <a16:creationId xmlns:a16="http://schemas.microsoft.com/office/drawing/2014/main" id="{781C1D1D-FA84-0C75-0E5D-CBF9194913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3" t="10151" r="3265" b="5987"/>
          <a:stretch>
            <a:fillRect/>
          </a:stretch>
        </p:blipFill>
        <p:spPr bwMode="auto">
          <a:xfrm>
            <a:off x="5570375" y="1945432"/>
            <a:ext cx="5710926" cy="296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609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B8F5C6C-E84F-4918-68A4-26CA66078514}"/>
              </a:ext>
            </a:extLst>
          </p:cNvPr>
          <p:cNvSpPr txBox="1"/>
          <p:nvPr/>
        </p:nvSpPr>
        <p:spPr>
          <a:xfrm>
            <a:off x="3596535" y="4347865"/>
            <a:ext cx="52109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altLang="es-CO" sz="3000" b="1" dirty="0">
                <a:solidFill>
                  <a:schemeClr val="bg1"/>
                </a:solidFill>
                <a:latin typeface="Work Sans Bold Roman"/>
              </a:rPr>
              <a:t>tecnoparquecali@sena.edu.co</a:t>
            </a:r>
          </a:p>
        </p:txBody>
      </p:sp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835f2c-a5d8-47b8-88a4-77a3324b559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27D44C9E92C44E80A327525A1EA580" ma:contentTypeVersion="15" ma:contentTypeDescription="Create a new document." ma:contentTypeScope="" ma:versionID="bc45ebe6235ec0ab051196d17ed7dfd2">
  <xsd:schema xmlns:xsd="http://www.w3.org/2001/XMLSchema" xmlns:xs="http://www.w3.org/2001/XMLSchema" xmlns:p="http://schemas.microsoft.com/office/2006/metadata/properties" xmlns:ns3="f9835f2c-a5d8-47b8-88a4-77a3324b5592" xmlns:ns4="1bf1a7e0-185b-409f-818a-54ddd52a2afa" targetNamespace="http://schemas.microsoft.com/office/2006/metadata/properties" ma:root="true" ma:fieldsID="8b018c75cfb2e792538780ef2ecadf18" ns3:_="" ns4:_="">
    <xsd:import namespace="f9835f2c-a5d8-47b8-88a4-77a3324b5592"/>
    <xsd:import namespace="1bf1a7e0-185b-409f-818a-54ddd52a2af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835f2c-a5d8-47b8-88a4-77a3324b55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8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f1a7e0-185b-409f-818a-54ddd52a2af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C253E5-05F3-4F0E-85F0-10B9B9236956}">
  <ds:schemaRefs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1bf1a7e0-185b-409f-818a-54ddd52a2afa"/>
    <ds:schemaRef ds:uri="f9835f2c-a5d8-47b8-88a4-77a3324b5592"/>
  </ds:schemaRefs>
</ds:datastoreItem>
</file>

<file path=customXml/itemProps2.xml><?xml version="1.0" encoding="utf-8"?>
<ds:datastoreItem xmlns:ds="http://schemas.openxmlformats.org/officeDocument/2006/customXml" ds:itemID="{32E005B1-42DF-4049-B88E-2FFBD963AA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F33059-D93E-47BD-A718-9C7A429649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835f2c-a5d8-47b8-88a4-77a3324b5592"/>
    <ds:schemaRef ds:uri="1bf1a7e0-185b-409f-818a-54ddd52a2a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4572</TotalTime>
  <Words>1107</Words>
  <Application>Microsoft Office PowerPoint</Application>
  <PresentationFormat>Panorámica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Work Sans</vt:lpstr>
      <vt:lpstr>WORK SANS BOLD ROMAN</vt:lpstr>
      <vt:lpstr>WORK SANS BOLD ROMAN</vt:lpstr>
      <vt:lpstr>Work Sans Light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Juan Esteban Villegas Velez</cp:lastModifiedBy>
  <cp:revision>86</cp:revision>
  <dcterms:created xsi:type="dcterms:W3CDTF">2020-10-01T23:51:28Z</dcterms:created>
  <dcterms:modified xsi:type="dcterms:W3CDTF">2025-11-07T00:34:52Z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ContentTypeId">
    <vt:lpwstr>0x010100BB27D44C9E92C44E80A327525A1EA580</vt:lpwstr>
  </property>
</Properties>
</file>